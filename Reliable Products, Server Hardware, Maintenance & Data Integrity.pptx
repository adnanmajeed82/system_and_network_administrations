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67" r:id="rId5"/>
    <p:sldId id="258" r:id="rId6"/>
    <p:sldId id="268" r:id="rId7"/>
    <p:sldId id="259" r:id="rId8"/>
    <p:sldId id="266" r:id="rId9"/>
    <p:sldId id="260" r:id="rId10"/>
    <p:sldId id="261" r:id="rId11"/>
    <p:sldId id="270" r:id="rId12"/>
    <p:sldId id="262" r:id="rId13"/>
    <p:sldId id="265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System &amp; Network Administration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Reliable Products, Server Hardware, Maintenance &amp; Data Integrity</a:t>
            </a:r>
          </a:p>
          <a:p>
            <a:r>
              <a:rPr dirty="0"/>
              <a:t>Instructor: Adnan Majeed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Reliable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66019"/>
            <a:ext cx="8229600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Definition: Consistently perform with minimal downtime</a:t>
            </a:r>
          </a:p>
          <a:p>
            <a:r>
              <a:rPr dirty="0"/>
              <a:t>Key Features: Uptime, Scalability, Vendor Support</a:t>
            </a:r>
          </a:p>
          <a:p>
            <a:r>
              <a:rPr dirty="0"/>
              <a:t>Examples: Dell PowerEdge, HP ProLiant, Cisco Routers, Juniper Switches</a:t>
            </a:r>
          </a:p>
          <a:p>
            <a:r>
              <a:rPr dirty="0"/>
              <a:t>Diagram: Reliability Pyramid (uptime, performance, scalability)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E62349-E569-A963-3518-50E63D8AF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031" y="256706"/>
            <a:ext cx="7259704" cy="6344587"/>
          </a:xfrm>
        </p:spPr>
      </p:pic>
    </p:spTree>
    <p:extLst>
      <p:ext uri="{BB962C8B-B14F-4D97-AF65-F5344CB8AC3E}">
        <p14:creationId xmlns:p14="http://schemas.microsoft.com/office/powerpoint/2010/main" val="192083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E4D892-5A4B-78BF-24EC-F2F90BB12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988" y="166407"/>
            <a:ext cx="7180023" cy="6525186"/>
          </a:xfrm>
        </p:spPr>
      </p:pic>
    </p:spTree>
    <p:extLst>
      <p:ext uri="{BB962C8B-B14F-4D97-AF65-F5344CB8AC3E}">
        <p14:creationId xmlns:p14="http://schemas.microsoft.com/office/powerpoint/2010/main" val="112076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Hardware Costing -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Factors influencing cost:</a:t>
            </a:r>
          </a:p>
          <a:p>
            <a:r>
              <a:rPr dirty="0"/>
              <a:t>Server Types: Tower (low cost), Rack (datacenters), Blade (high density)</a:t>
            </a:r>
          </a:p>
          <a:p>
            <a:r>
              <a:rPr dirty="0"/>
              <a:t>Specifications: CPU, RAM (ECC), Storage (SSD vs HDD, RAID)</a:t>
            </a:r>
          </a:p>
          <a:p>
            <a:r>
              <a:rPr dirty="0"/>
              <a:t>Licensing &amp; Software Costs</a:t>
            </a:r>
          </a:p>
          <a:p>
            <a:r>
              <a:rPr dirty="0"/>
              <a:t>Operational Costs: Cooling, Power, 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C73537-1A35-48DE-EB88-40B164170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8929" y="211736"/>
            <a:ext cx="8114142" cy="6434528"/>
          </a:xfrm>
        </p:spPr>
      </p:pic>
    </p:spTree>
    <p:extLst>
      <p:ext uri="{BB962C8B-B14F-4D97-AF65-F5344CB8AC3E}">
        <p14:creationId xmlns:p14="http://schemas.microsoft.com/office/powerpoint/2010/main" val="300754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Hardware Costing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1121" y="1166019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Example Rack Server Calculation:</a:t>
            </a:r>
          </a:p>
          <a:p>
            <a:r>
              <a:rPr dirty="0"/>
              <a:t>Base Price = $3,500</a:t>
            </a:r>
          </a:p>
          <a:p>
            <a:r>
              <a:rPr dirty="0"/>
              <a:t>RAM Upgrade (64GB) = $800</a:t>
            </a:r>
          </a:p>
          <a:p>
            <a:r>
              <a:rPr dirty="0"/>
              <a:t>SSD RAID Storage = $1,200</a:t>
            </a:r>
          </a:p>
          <a:p>
            <a:r>
              <a:rPr dirty="0"/>
              <a:t>License (Windows Server) = $1,000</a:t>
            </a:r>
          </a:p>
          <a:p>
            <a:r>
              <a:rPr dirty="0"/>
              <a:t>Power &amp; Cooling (per year) = $600</a:t>
            </a:r>
          </a:p>
          <a:p>
            <a:r>
              <a:rPr dirty="0"/>
              <a:t>Total (3 years) = $8,900</a:t>
            </a:r>
          </a:p>
          <a:p>
            <a:r>
              <a:rPr dirty="0"/>
              <a:t>TCO: Initial + Operational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33265-7EFA-260B-8E07-37F6E8E78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903" y="301677"/>
            <a:ext cx="6974890" cy="6254646"/>
          </a:xfrm>
        </p:spPr>
      </p:pic>
    </p:spTree>
    <p:extLst>
      <p:ext uri="{BB962C8B-B14F-4D97-AF65-F5344CB8AC3E}">
        <p14:creationId xmlns:p14="http://schemas.microsoft.com/office/powerpoint/2010/main" val="11912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Standard Warranty vs SLA vs Extended Warranty</a:t>
            </a:r>
          </a:p>
          <a:p>
            <a:r>
              <a:t>Benefits: Reduced downtime, quick response, certified spares</a:t>
            </a:r>
          </a:p>
          <a:p>
            <a:r>
              <a:t>SLA Example: 4-hour response time = Premium, 24-hour = Lower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Spare Parts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Critical spares: HDDs, RAM, Power Supplies</a:t>
            </a:r>
          </a:p>
          <a:p>
            <a:r>
              <a:t>Maintain inventory system for replacements</a:t>
            </a:r>
          </a:p>
          <a:p>
            <a:r>
              <a:t>Standardization simplifies management</a:t>
            </a:r>
          </a:p>
          <a:p>
            <a:r>
              <a:t>Spare Part Cycle: Purchase → Storage → Replacement → Disposal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C2CB2-C906-B691-9B33-0AFEB03A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Spare parts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56D04B-90E9-8F07-E019-31689800A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8481" y="1600200"/>
            <a:ext cx="6480215" cy="4525963"/>
          </a:xfrm>
        </p:spPr>
      </p:pic>
    </p:spTree>
    <p:extLst>
      <p:ext uri="{BB962C8B-B14F-4D97-AF65-F5344CB8AC3E}">
        <p14:creationId xmlns:p14="http://schemas.microsoft.com/office/powerpoint/2010/main" val="226553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Maintaining Data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66019"/>
            <a:ext cx="8229600" cy="4525963"/>
          </a:xfrm>
        </p:spPr>
        <p:txBody>
          <a:bodyPr>
            <a:normAutofit fontScale="92500"/>
          </a:bodyPr>
          <a:lstStyle/>
          <a:p>
            <a:endParaRPr dirty="0"/>
          </a:p>
          <a:p>
            <a:r>
              <a:rPr dirty="0"/>
              <a:t>Definition: Accuracy, Consistency, Security</a:t>
            </a:r>
          </a:p>
          <a:p>
            <a:r>
              <a:rPr dirty="0"/>
              <a:t>Methods: Backups, RAID (1, 5, 10), Checksums/Hashing</a:t>
            </a:r>
          </a:p>
          <a:p>
            <a:r>
              <a:rPr dirty="0"/>
              <a:t>Access Control &amp; Encryption</a:t>
            </a:r>
          </a:p>
          <a:p>
            <a:r>
              <a:rPr dirty="0"/>
              <a:t>Disaster Recovery: Failover Servers, Redundancy</a:t>
            </a:r>
          </a:p>
          <a:p>
            <a:r>
              <a:rPr dirty="0"/>
              <a:t>Backup Strategy: Daily Incremental, Weekly Full, Monthly Archive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355CD2-EFB9-4E56-EAAD-336E66859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9784" y="1371600"/>
            <a:ext cx="11212642" cy="353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74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- Example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14767"/>
            <a:ext cx="8229600" cy="4551122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dirty="0"/>
              <a:t>Scenario: Mid-size company with 100 employees</a:t>
            </a:r>
          </a:p>
          <a:p>
            <a:r>
              <a:rPr dirty="0"/>
              <a:t>Requirements: 2 Rack Servers (file + application), Backup Server</a:t>
            </a:r>
          </a:p>
          <a:p>
            <a:r>
              <a:rPr dirty="0"/>
              <a:t>SLA with vendor (24-hour response)</a:t>
            </a:r>
          </a:p>
          <a:p>
            <a:r>
              <a:rPr dirty="0"/>
              <a:t>Cost Breakdown (3 Years):</a:t>
            </a:r>
          </a:p>
          <a:p>
            <a:r>
              <a:rPr dirty="0"/>
              <a:t>Rack Servers (x2) = $7,000</a:t>
            </a:r>
          </a:p>
          <a:p>
            <a:r>
              <a:rPr dirty="0"/>
              <a:t>Backup Server = $3,500</a:t>
            </a:r>
          </a:p>
          <a:p>
            <a:r>
              <a:rPr dirty="0"/>
              <a:t>Licensing = $2,500</a:t>
            </a:r>
          </a:p>
          <a:p>
            <a:r>
              <a:rPr dirty="0"/>
              <a:t>SLA (3 Years) = $2,000</a:t>
            </a:r>
          </a:p>
          <a:p>
            <a:r>
              <a:rPr dirty="0"/>
              <a:t>Spare Parts = $1,000</a:t>
            </a:r>
          </a:p>
          <a:p>
            <a:r>
              <a:rPr dirty="0"/>
              <a:t>Total = $16,000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Reliable products = Ensure uptime &amp; scalability</a:t>
            </a:r>
          </a:p>
          <a:p>
            <a:r>
              <a:t>Server costing = Consider TCO, not just purchase price</a:t>
            </a:r>
          </a:p>
          <a:p>
            <a:r>
              <a:t>Maintenance contracts &amp; spares reduce downtime</a:t>
            </a:r>
          </a:p>
          <a:p>
            <a:r>
              <a:t>Data integrity protects business-critical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387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System &amp; Network Administration</vt:lpstr>
      <vt:lpstr>Reliable Products</vt:lpstr>
      <vt:lpstr>PowerPoint Presentation</vt:lpstr>
      <vt:lpstr>PowerPoint Presentation</vt:lpstr>
      <vt:lpstr>Server Hardware Costing - Factors</vt:lpstr>
      <vt:lpstr>PowerPoint Presentation</vt:lpstr>
      <vt:lpstr>Server Hardware Costing - Example</vt:lpstr>
      <vt:lpstr>PowerPoint Presentation</vt:lpstr>
      <vt:lpstr>Maintenance Contracts</vt:lpstr>
      <vt:lpstr>Spare Parts Management</vt:lpstr>
      <vt:lpstr>Spare parts </vt:lpstr>
      <vt:lpstr>Maintaining Data Integrity</vt:lpstr>
      <vt:lpstr>PowerPoint Presentation</vt:lpstr>
      <vt:lpstr>Case Study - Example Analysis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2025-09-08T07:25:40Z</dcterms:modified>
  <cp:category/>
</cp:coreProperties>
</file>