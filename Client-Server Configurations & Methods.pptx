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B94A-BFE7-197A-48E9-7E3D1FBF4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1843C-706D-8F06-2127-DD55DC7F5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A616B-9E18-324F-1F81-EFE9558AC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777E3-447F-D318-B37C-71E81748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1C689-A199-8135-8C60-289F21AD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7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954A-A77A-C5E9-A9E2-4C080B7B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2EAEF-E3AA-DB93-C698-CEB38358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DDB10-110C-7002-6685-AC532714B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4AF3C-96CC-5EFC-DFE7-D3B137DF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3A74A-BBE2-FF91-AF8A-00A65CCD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F534-AFBF-029E-23D8-13625636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35F5E-BAA6-A993-E6F7-272FF9EB0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B5F63-E3C2-CEEE-9640-33D6BDE0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33E92-5CC1-2C28-F548-F11EA0B2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5EC3-1556-7075-D5D1-91FE6FAF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3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284C-220E-E313-4F5D-44896861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9F11C-F9E9-3C72-6ECA-A40E1EE90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3F6A9-8D1B-5A1B-ABD2-558EF2D20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DC15A-C61E-FF6A-396A-11C3EB9E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A889B-CD5C-6D37-3CDB-3C787D57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14869-3534-8E39-8357-46FF4B4A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3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9169-BFB1-C1D2-285C-E4B7799A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9D15B-4C9A-5446-B7CB-79C5D7C27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7A8FF-E2A1-8189-686F-4438D6CEF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BCA07-4F38-54C3-6BA4-1970A1784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0F581-0ADB-3481-C4D0-E7D161255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05192-E68C-15E7-175B-3FFFFB85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45E09-2F4C-A8A2-A3AB-B0230C5A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89753-E5CC-C6F7-E0B2-2E97927C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1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911B-A9CD-7FA7-0E2B-5FE50B8D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01E85-4B7D-75FC-4947-ED5102BD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1FD80-66A9-3787-ED0E-543D3D8C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55AF5-6BAA-E092-A099-D092C567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9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EF01F4-41A3-29F3-8C15-07A13D41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B2B69-1B21-1EE7-18FC-C02FEF13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BBAC3-8D31-B6DD-A0F2-AFF8679F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7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A21A-C6C5-2ADB-F616-085DA2F0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04F7A-58C1-F216-FBFB-05D5BB95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1E0C3-FBBB-DD37-A896-88EF08656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F29EC-EB7E-B63D-F161-EF2EDB17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D3129-9BEF-49E2-40D8-A5EF9112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DE35-85B6-416D-DFA0-5491CB39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9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C238-8FBB-BDAB-51B4-240A1791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058DB-3FA8-29F3-36BB-65FD6734E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2A885-018A-3829-033B-04038D4A9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CFB89-DFFD-5DBC-AE3C-6E7DCDFD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ABE31-B691-B384-044E-3A42A49D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7D34F-820A-86F4-F962-C80537A7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5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4DB5-FE2B-D0AE-84DA-73EABF18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86C8B-5063-008F-7833-2F322D8B5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29FA0-49D0-1416-7127-C08A0860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55A45-ED61-BB64-7926-8FEF4BA5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24F61-FA2D-AE74-834A-703A5465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6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FF1D8-DBB6-68A3-BF15-437AF9CF9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487D9-CB8E-06A2-8737-BBF4BE61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75B90-0FD2-C58E-298B-F5D52441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924C-3CB4-31CF-5F0C-50E71724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B689-4FBD-FE97-D4B9-F40EEB7E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C9D63-C853-D54C-A616-DA77F394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27AFB-232B-B8CB-B524-A23002976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E203C-AA1C-BF3A-0AE8-551530B0A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29BA5-5504-4A9A-BC45-DDC4D4FA227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B592-C1FA-526A-0899-7957432A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486AD-B84D-D90D-DE58-DCAFA5777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E9EB0-6C54-4C06-ADA0-4FEA946A8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5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52C0-EF3F-2C03-1DD6-F681353BB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Client-Server Configurations &amp;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C4224-E27C-441D-ADF0-F29416480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Adnan Majeed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D68E-831A-31EF-F8C2-B5F2D8A4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Client-Server Model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A76F-452A-5E59-4E46-F516B211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client-server model is a distributed computing architecture where tasks or workloads are divided between </a:t>
            </a:r>
            <a:r>
              <a:rPr lang="en-US" b="1" dirty="0"/>
              <a:t>clients</a:t>
            </a:r>
            <a:r>
              <a:rPr lang="en-US" dirty="0"/>
              <a:t> (requesters) and </a:t>
            </a:r>
            <a:r>
              <a:rPr lang="en-US" b="1" dirty="0"/>
              <a:t>servers</a:t>
            </a:r>
            <a:r>
              <a:rPr lang="en-US" dirty="0"/>
              <a:t> (providers of resources or services).</a:t>
            </a:r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Web browsing (Browser = Client, Web server = Server)</a:t>
            </a:r>
          </a:p>
          <a:p>
            <a:pPr lvl="1"/>
            <a:r>
              <a:rPr lang="en-US" dirty="0"/>
              <a:t>Email system (Outlook/Gmail = Client, Mail Server = Server)</a:t>
            </a:r>
          </a:p>
          <a:p>
            <a:pPr lvl="1"/>
            <a:r>
              <a:rPr lang="en-US" dirty="0"/>
              <a:t>Database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09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0AC7-C411-55FB-C21B-1DEC368B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Client-Server Configurations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7D3E3-39A1-8245-7076-D5A64DD49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ways in which clients and servers can be set up:</a:t>
            </a:r>
          </a:p>
          <a:p>
            <a:r>
              <a:rPr lang="en-US" b="1" dirty="0"/>
              <a:t>a. One-Tier (Standalone System)</a:t>
            </a:r>
          </a:p>
          <a:p>
            <a:r>
              <a:rPr lang="en-US" b="1" dirty="0"/>
              <a:t>Description</a:t>
            </a:r>
            <a:r>
              <a:rPr lang="en-US" dirty="0"/>
              <a:t>: All components (UI, business logic, database) run on a single machine.</a:t>
            </a:r>
          </a:p>
          <a:p>
            <a:r>
              <a:rPr lang="en-US" b="1" dirty="0"/>
              <a:t>Example</a:t>
            </a:r>
            <a:r>
              <a:rPr lang="en-US" dirty="0"/>
              <a:t>: MS Office on a PC.</a:t>
            </a:r>
          </a:p>
          <a:p>
            <a:r>
              <a:rPr lang="en-US" b="1" dirty="0"/>
              <a:t>Advantage</a:t>
            </a:r>
            <a:r>
              <a:rPr lang="en-US" dirty="0"/>
              <a:t>: Simple, low cost.</a:t>
            </a:r>
          </a:p>
          <a:p>
            <a:r>
              <a:rPr lang="en-US" b="1" dirty="0"/>
              <a:t>Disadvantage</a:t>
            </a:r>
            <a:r>
              <a:rPr lang="en-US" dirty="0"/>
              <a:t>: Not scalable, limited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7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F5E6-7DA9-7E99-B35E-B2FEBC22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EEF59-B610-2F8A-C9DB-A07E9B414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Two-Tier Configuration</a:t>
            </a:r>
          </a:p>
          <a:p>
            <a:r>
              <a:rPr lang="en-US" b="1" dirty="0"/>
              <a:t>Description</a:t>
            </a:r>
            <a:r>
              <a:rPr lang="en-US" dirty="0"/>
              <a:t>: Client interacts directly with the server.</a:t>
            </a:r>
          </a:p>
          <a:p>
            <a:r>
              <a:rPr lang="en-US" b="1" dirty="0"/>
              <a:t>Components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Client (Frontend)</a:t>
            </a:r>
            <a:r>
              <a:rPr lang="en-US" dirty="0"/>
              <a:t> → Handles presentation/UI.</a:t>
            </a:r>
          </a:p>
          <a:p>
            <a:pPr lvl="1"/>
            <a:r>
              <a:rPr lang="en-US" b="1" dirty="0"/>
              <a:t>Server (Backend)</a:t>
            </a:r>
            <a:r>
              <a:rPr lang="en-US" dirty="0"/>
              <a:t> → Manages database or services.</a:t>
            </a:r>
          </a:p>
          <a:p>
            <a:r>
              <a:rPr lang="en-US" b="1" dirty="0"/>
              <a:t>Example</a:t>
            </a:r>
            <a:r>
              <a:rPr lang="en-US" dirty="0"/>
              <a:t>: Online banking system (client app ↔ database server).</a:t>
            </a:r>
          </a:p>
          <a:p>
            <a:r>
              <a:rPr lang="en-US" b="1" dirty="0"/>
              <a:t>Advantage</a:t>
            </a:r>
            <a:r>
              <a:rPr lang="en-US" dirty="0"/>
              <a:t>: Easy to implement.</a:t>
            </a:r>
          </a:p>
          <a:p>
            <a:r>
              <a:rPr lang="en-US" b="1" dirty="0"/>
              <a:t>Disadvantage</a:t>
            </a:r>
            <a:r>
              <a:rPr lang="en-US" dirty="0"/>
              <a:t>: Server can become overloaded with many clients.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6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30A5-1B22-8226-714C-D09A6883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ED7A-CFEB-FE20-B93C-D4E6B79C1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Three-Tier Configuration</a:t>
            </a:r>
          </a:p>
          <a:p>
            <a:r>
              <a:rPr lang="en-US" b="1" dirty="0"/>
              <a:t>Description</a:t>
            </a:r>
            <a:r>
              <a:rPr lang="en-US" dirty="0"/>
              <a:t>: Adds a middle </a:t>
            </a:r>
            <a:r>
              <a:rPr lang="en-US" b="1" dirty="0"/>
              <a:t>Application Server</a:t>
            </a:r>
            <a:r>
              <a:rPr lang="en-US" dirty="0"/>
              <a:t> between client and database server.</a:t>
            </a:r>
          </a:p>
          <a:p>
            <a:r>
              <a:rPr lang="en-US" b="1" dirty="0"/>
              <a:t>Components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Client Tier</a:t>
            </a:r>
            <a:r>
              <a:rPr lang="en-US" dirty="0"/>
              <a:t>: User interface.</a:t>
            </a:r>
          </a:p>
          <a:p>
            <a:pPr lvl="1"/>
            <a:r>
              <a:rPr lang="en-US" b="1" dirty="0"/>
              <a:t>Application/Business Logic Tier</a:t>
            </a:r>
            <a:r>
              <a:rPr lang="en-US" dirty="0"/>
              <a:t>: Processes requests, applies business rules.</a:t>
            </a:r>
          </a:p>
          <a:p>
            <a:pPr lvl="1"/>
            <a:r>
              <a:rPr lang="en-US" b="1" dirty="0"/>
              <a:t>Database Tier</a:t>
            </a:r>
            <a:r>
              <a:rPr lang="en-US" dirty="0"/>
              <a:t>: Stores and retrieves data.</a:t>
            </a:r>
          </a:p>
          <a:p>
            <a:r>
              <a:rPr lang="en-US" b="1" dirty="0"/>
              <a:t>Example</a:t>
            </a:r>
            <a:r>
              <a:rPr lang="en-US" dirty="0"/>
              <a:t>: E-commerce apps (Amazon, </a:t>
            </a:r>
            <a:r>
              <a:rPr lang="en-US" dirty="0" err="1"/>
              <a:t>Daraz</a:t>
            </a:r>
            <a:r>
              <a:rPr lang="en-US" dirty="0"/>
              <a:t>).</a:t>
            </a:r>
          </a:p>
          <a:p>
            <a:r>
              <a:rPr lang="en-US" b="1" dirty="0"/>
              <a:t>Advantage</a:t>
            </a:r>
            <a:r>
              <a:rPr lang="en-US" dirty="0"/>
              <a:t>: Scalability, better performance.</a:t>
            </a:r>
          </a:p>
          <a:p>
            <a:r>
              <a:rPr lang="en-US" b="1" dirty="0"/>
              <a:t>Disadvantage</a:t>
            </a:r>
            <a:r>
              <a:rPr lang="en-US" dirty="0"/>
              <a:t>: More complex setup.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59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5FF0-CD13-429F-387C-3330F5F8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D2364-B522-34A1-F29B-15C713C3F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n-Tier / Multi-Tier Configuration</a:t>
            </a:r>
          </a:p>
          <a:p>
            <a:r>
              <a:rPr lang="en-US" b="1" dirty="0"/>
              <a:t>Description</a:t>
            </a:r>
            <a:r>
              <a:rPr lang="en-US" dirty="0"/>
              <a:t>: Multiple layers (web server, application server, caching server, database, etc.).</a:t>
            </a:r>
          </a:p>
          <a:p>
            <a:r>
              <a:rPr lang="en-US" b="1" dirty="0"/>
              <a:t>Example</a:t>
            </a:r>
            <a:r>
              <a:rPr lang="en-US" dirty="0"/>
              <a:t>: Cloud-based applications (Netflix, Facebook, YouTube).</a:t>
            </a:r>
          </a:p>
          <a:p>
            <a:r>
              <a:rPr lang="en-US" b="1" dirty="0"/>
              <a:t>Advantage</a:t>
            </a:r>
            <a:r>
              <a:rPr lang="en-US" dirty="0"/>
              <a:t>: High scalability, fault tolerance.</a:t>
            </a:r>
          </a:p>
          <a:p>
            <a:r>
              <a:rPr lang="en-US" b="1" dirty="0"/>
              <a:t>Disadvantage</a:t>
            </a:r>
            <a:r>
              <a:rPr lang="en-US" dirty="0"/>
              <a:t>: Expensive, complex maintenance.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14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2921-3A47-B9E4-BB7E-85C4E43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6778-6D0A-08BF-356C-06C1CF206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Methods of Client-Server Communication</a:t>
            </a:r>
          </a:p>
          <a:p>
            <a:r>
              <a:rPr lang="en-US" b="1" dirty="0"/>
              <a:t>a. Request-Response Method</a:t>
            </a:r>
          </a:p>
          <a:p>
            <a:r>
              <a:rPr lang="en-US" b="1" dirty="0"/>
              <a:t>Client sends request</a:t>
            </a:r>
            <a:r>
              <a:rPr lang="en-US" dirty="0"/>
              <a:t> → </a:t>
            </a:r>
            <a:r>
              <a:rPr lang="en-US" b="1" dirty="0"/>
              <a:t>Server responds</a:t>
            </a:r>
            <a:r>
              <a:rPr lang="en-US" dirty="0"/>
              <a:t>.</a:t>
            </a:r>
          </a:p>
          <a:p>
            <a:r>
              <a:rPr lang="en-US" dirty="0"/>
              <a:t>Example: HTTP communication (GET, POST).</a:t>
            </a:r>
          </a:p>
          <a:p>
            <a:r>
              <a:rPr lang="en-US" b="1" dirty="0"/>
              <a:t>b. Remote Procedure Call (RPC)</a:t>
            </a:r>
          </a:p>
          <a:p>
            <a:r>
              <a:rPr lang="en-US" dirty="0"/>
              <a:t>Client executes a function/method on the server.</a:t>
            </a:r>
          </a:p>
          <a:p>
            <a:r>
              <a:rPr lang="en-US" dirty="0"/>
              <a:t>Example: </a:t>
            </a:r>
            <a:r>
              <a:rPr lang="en-US" dirty="0" err="1"/>
              <a:t>gRPC</a:t>
            </a:r>
            <a:r>
              <a:rPr lang="en-US" dirty="0"/>
              <a:t>, Java RMI.</a:t>
            </a:r>
          </a:p>
          <a:p>
            <a:r>
              <a:rPr lang="en-US" b="1" dirty="0"/>
              <a:t>c. Socket Programming</a:t>
            </a:r>
          </a:p>
          <a:p>
            <a:r>
              <a:rPr lang="en-US" dirty="0"/>
              <a:t>Low-level method using TCP/UDP.</a:t>
            </a:r>
          </a:p>
          <a:p>
            <a:r>
              <a:rPr lang="en-US" dirty="0"/>
              <a:t>Provides real-time communication.</a:t>
            </a:r>
          </a:p>
          <a:p>
            <a:r>
              <a:rPr lang="en-US" dirty="0"/>
              <a:t>Example: Chat applications, online games.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5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EF08-4DE0-CA2B-FD2D-2C6610AC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22DC-22D5-2A38-CE0B-530D661A2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Message-Oriented Middleware</a:t>
            </a:r>
          </a:p>
          <a:p>
            <a:r>
              <a:rPr lang="en-US" dirty="0"/>
              <a:t>Messages queued between client and server for reliability.</a:t>
            </a:r>
          </a:p>
          <a:p>
            <a:r>
              <a:rPr lang="en-US" dirty="0"/>
              <a:t>Example: RabbitMQ, Kafka.</a:t>
            </a:r>
          </a:p>
          <a:p>
            <a:r>
              <a:rPr lang="en-US" b="1" dirty="0"/>
              <a:t>e. RESTful APIs</a:t>
            </a:r>
          </a:p>
          <a:p>
            <a:r>
              <a:rPr lang="en-US" dirty="0"/>
              <a:t>Lightweight, stateless communication over HTTP.</a:t>
            </a:r>
          </a:p>
          <a:p>
            <a:r>
              <a:rPr lang="en-US" dirty="0"/>
              <a:t>Example: JSON/XML over HTTP.</a:t>
            </a:r>
          </a:p>
          <a:p>
            <a:r>
              <a:rPr lang="en-US" b="1" dirty="0"/>
              <a:t>f. </a:t>
            </a:r>
            <a:r>
              <a:rPr lang="en-US" b="1" dirty="0" err="1"/>
              <a:t>WebSockets</a:t>
            </a:r>
            <a:endParaRPr lang="en-US" b="1" dirty="0"/>
          </a:p>
          <a:p>
            <a:r>
              <a:rPr lang="en-US" dirty="0"/>
              <a:t>Persistent, bidirectional communication.</a:t>
            </a:r>
          </a:p>
          <a:p>
            <a:r>
              <a:rPr lang="en-US" dirty="0"/>
              <a:t>Example: Live stock updates, online gaming, chat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65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CCE4-666F-F755-D3FC-F3F12871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Configuration Methods (Setup Approaches)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FDD1D-DD3F-CDD8-25EA-BA3216F2F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a. Manual Configuration</a:t>
            </a:r>
          </a:p>
          <a:p>
            <a:r>
              <a:rPr lang="en-US" dirty="0"/>
              <a:t>IP addresses, DNS, ports manually assigned.</a:t>
            </a:r>
          </a:p>
          <a:p>
            <a:r>
              <a:rPr lang="en-US" dirty="0"/>
              <a:t>Example: Static IP setup for servers.</a:t>
            </a:r>
          </a:p>
          <a:p>
            <a:r>
              <a:rPr lang="en-US" b="1" dirty="0"/>
              <a:t>b. Automatic Configuration</a:t>
            </a:r>
          </a:p>
          <a:p>
            <a:r>
              <a:rPr lang="en-US" dirty="0"/>
              <a:t>Using DHCP for clients.</a:t>
            </a:r>
          </a:p>
          <a:p>
            <a:r>
              <a:rPr lang="en-US" dirty="0"/>
              <a:t>Load balancers for distributing client requests to multiple servers.</a:t>
            </a:r>
          </a:p>
          <a:p>
            <a:r>
              <a:rPr lang="en-US" b="1" dirty="0"/>
              <a:t>c. Cloud-Based Configuration</a:t>
            </a:r>
          </a:p>
          <a:p>
            <a:r>
              <a:rPr lang="en-US" dirty="0"/>
              <a:t>Server instances deployed in cloud (AWS, Azure, GCP).</a:t>
            </a:r>
          </a:p>
          <a:p>
            <a:r>
              <a:rPr lang="en-US" dirty="0"/>
              <a:t>Auto-scaling and virtual private networks.</a:t>
            </a:r>
          </a:p>
          <a:p>
            <a:r>
              <a:rPr lang="en-US" b="1" dirty="0"/>
              <a:t>d. Virtualized / Containerized Configuration</a:t>
            </a:r>
          </a:p>
          <a:p>
            <a:r>
              <a:rPr lang="en-US" dirty="0"/>
              <a:t>Using </a:t>
            </a:r>
            <a:r>
              <a:rPr lang="en-US" b="1" dirty="0"/>
              <a:t>VMs</a:t>
            </a:r>
            <a:r>
              <a:rPr lang="en-US" dirty="0"/>
              <a:t> or </a:t>
            </a:r>
            <a:r>
              <a:rPr lang="en-US" b="1" dirty="0"/>
              <a:t>Docker containers</a:t>
            </a:r>
            <a:r>
              <a:rPr lang="en-US" dirty="0"/>
              <a:t> for deployment.</a:t>
            </a:r>
          </a:p>
          <a:p>
            <a:r>
              <a:rPr lang="en-US" dirty="0"/>
              <a:t>Example: Microservices running in Kubernetes clusters.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19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5F0C-8911-F2E4-EFD0-C48A8FD4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22C55-BC5A-33AC-82A6-08895C184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Advantages of Client-Server Configurations</a:t>
            </a:r>
          </a:p>
          <a:p>
            <a:r>
              <a:rPr lang="en-US" dirty="0"/>
              <a:t>Centralized resources.</a:t>
            </a:r>
          </a:p>
          <a:p>
            <a:r>
              <a:rPr lang="en-US" dirty="0"/>
              <a:t>Easier security and management.</a:t>
            </a:r>
          </a:p>
          <a:p>
            <a:r>
              <a:rPr lang="en-US" dirty="0"/>
              <a:t>Scalability (adding more servers).</a:t>
            </a:r>
          </a:p>
          <a:p>
            <a:r>
              <a:rPr lang="en-US" dirty="0"/>
              <a:t>Multi-user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41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23FF-4BD5-44E5-742B-7450C3DA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DB72A-2AF2-60F7-DD7B-48FA47501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Disadvantages</a:t>
            </a:r>
          </a:p>
          <a:p>
            <a:r>
              <a:rPr lang="en-US" dirty="0"/>
              <a:t>Server failure = system downtime.</a:t>
            </a:r>
          </a:p>
          <a:p>
            <a:r>
              <a:rPr lang="en-US" dirty="0"/>
              <a:t>High cost for hardware/software.</a:t>
            </a:r>
          </a:p>
          <a:p>
            <a:r>
              <a:rPr lang="en-US" dirty="0"/>
              <a:t>Requires skilled administration.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7. Real-World Case Studies</a:t>
            </a:r>
          </a:p>
          <a:p>
            <a:r>
              <a:rPr lang="en-US" b="1" dirty="0"/>
              <a:t>Web Server &amp; Browser</a:t>
            </a:r>
            <a:r>
              <a:rPr lang="en-US" dirty="0"/>
              <a:t>: Apache/Nginx + Chrome/Firefox.</a:t>
            </a:r>
          </a:p>
          <a:p>
            <a:r>
              <a:rPr lang="en-US" b="1" dirty="0"/>
              <a:t>Database Systems</a:t>
            </a:r>
            <a:r>
              <a:rPr lang="en-US" dirty="0"/>
              <a:t>: MySQL/SQL Server with client applications.</a:t>
            </a:r>
          </a:p>
          <a:p>
            <a:r>
              <a:rPr lang="en-US" b="1" dirty="0"/>
              <a:t>Enterprise Apps</a:t>
            </a:r>
            <a:r>
              <a:rPr lang="en-US" dirty="0"/>
              <a:t>: ERP systems (SAP, Oracle).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17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E738-A3B5-D4F9-27E0-49F056F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B85F-6DEB-3444-C372-A3DBD284F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Linux ↔ Windows Server Configurations</a:t>
            </a:r>
            <a:endParaRPr lang="en-US" dirty="0"/>
          </a:p>
          <a:p>
            <a:r>
              <a:rPr lang="en-US" dirty="0"/>
              <a:t>Purpose: Enable communication, file sharing, and service integration between Linux servers and Windows servers.</a:t>
            </a:r>
          </a:p>
          <a:p>
            <a:r>
              <a:rPr lang="en-US" dirty="0"/>
              <a:t>Common scenarios:</a:t>
            </a:r>
          </a:p>
          <a:p>
            <a:pPr lvl="1"/>
            <a:r>
              <a:rPr lang="en-US" dirty="0"/>
              <a:t>File sharing (Samba, NFS)</a:t>
            </a:r>
          </a:p>
          <a:p>
            <a:pPr lvl="1"/>
            <a:r>
              <a:rPr lang="en-US" dirty="0"/>
              <a:t>Authentication (Active Directory)</a:t>
            </a:r>
          </a:p>
          <a:p>
            <a:pPr lvl="1"/>
            <a:r>
              <a:rPr lang="en-US" dirty="0"/>
              <a:t>Remote access (SSH, RDP)</a:t>
            </a:r>
          </a:p>
          <a:p>
            <a:pPr lvl="1"/>
            <a:r>
              <a:rPr lang="en-US" dirty="0"/>
              <a:t>Web &amp; database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2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FB23-361C-2505-9229-521677D7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EBA4D-02D7-6EA4-B1BE-C9320A3F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Networking Setup</a:t>
            </a:r>
          </a:p>
          <a:p>
            <a:r>
              <a:rPr lang="en-US" b="1" dirty="0"/>
              <a:t>Assign Static IPs</a:t>
            </a:r>
            <a:r>
              <a:rPr lang="en-US" dirty="0"/>
              <a:t> to both servers.</a:t>
            </a:r>
          </a:p>
          <a:p>
            <a:r>
              <a:rPr lang="en-US" dirty="0"/>
              <a:t>Ensure </a:t>
            </a:r>
            <a:r>
              <a:rPr lang="en-US" b="1" dirty="0"/>
              <a:t>DNS resolution</a:t>
            </a:r>
            <a:r>
              <a:rPr lang="en-US" dirty="0"/>
              <a:t> works both ways.</a:t>
            </a:r>
          </a:p>
          <a:p>
            <a:r>
              <a:rPr lang="en-US" dirty="0"/>
              <a:t>Configure </a:t>
            </a:r>
            <a:r>
              <a:rPr lang="en-US" b="1" dirty="0"/>
              <a:t>Firewall rules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Linux: </a:t>
            </a:r>
            <a:r>
              <a:rPr lang="en-US" dirty="0" err="1"/>
              <a:t>firewalld</a:t>
            </a:r>
            <a:r>
              <a:rPr lang="en-US" dirty="0"/>
              <a:t>/iptables</a:t>
            </a:r>
          </a:p>
          <a:p>
            <a:pPr lvl="1"/>
            <a:r>
              <a:rPr lang="en-US" dirty="0"/>
              <a:t>Windows: Windows Firewall rules</a:t>
            </a:r>
          </a:p>
          <a:p>
            <a:r>
              <a:rPr lang="en-US" dirty="0"/>
              <a:t>Test </a:t>
            </a:r>
            <a:r>
              <a:rPr lang="en-US" b="1" dirty="0"/>
              <a:t>ping, traceroute</a:t>
            </a:r>
            <a:r>
              <a:rPr lang="en-US" dirty="0"/>
              <a:t> for connectivity.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2399-CA29-32F7-EDCD-F8FBFB9C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7548-BD56-385F-9BE2-B97B1EE0E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File Sharing Configurations</a:t>
            </a:r>
          </a:p>
          <a:p>
            <a:r>
              <a:rPr lang="en-US" b="1" dirty="0"/>
              <a:t>Linux → Windows</a:t>
            </a:r>
            <a:r>
              <a:rPr lang="en-US" dirty="0"/>
              <a:t> using </a:t>
            </a:r>
            <a:r>
              <a:rPr lang="en-US" b="1" dirty="0"/>
              <a:t>Samba (SMB/CIFS)</a:t>
            </a:r>
            <a:endParaRPr lang="en-US" dirty="0"/>
          </a:p>
          <a:p>
            <a:pPr lvl="1"/>
            <a:r>
              <a:rPr lang="en-US" dirty="0"/>
              <a:t>Install Samba: </a:t>
            </a:r>
            <a:r>
              <a:rPr lang="en-US" dirty="0" err="1"/>
              <a:t>sudo</a:t>
            </a:r>
            <a:r>
              <a:rPr lang="en-US" dirty="0"/>
              <a:t> apt install samba</a:t>
            </a:r>
          </a:p>
          <a:p>
            <a:pPr lvl="1"/>
            <a:r>
              <a:rPr lang="en-US" dirty="0"/>
              <a:t>Configure /</a:t>
            </a:r>
            <a:r>
              <a:rPr lang="en-US" dirty="0" err="1"/>
              <a:t>etc</a:t>
            </a:r>
            <a:r>
              <a:rPr lang="en-US" dirty="0"/>
              <a:t>/samba/</a:t>
            </a:r>
            <a:r>
              <a:rPr lang="en-US" dirty="0" err="1"/>
              <a:t>smb.conf</a:t>
            </a:r>
            <a:endParaRPr lang="en-US" dirty="0"/>
          </a:p>
          <a:p>
            <a:pPr lvl="1"/>
            <a:r>
              <a:rPr lang="en-US" dirty="0"/>
              <a:t>Access via \\LinuxServer\share from Windows.</a:t>
            </a:r>
          </a:p>
          <a:p>
            <a:r>
              <a:rPr lang="en-US" b="1" dirty="0"/>
              <a:t>Windows → Linux</a:t>
            </a:r>
            <a:r>
              <a:rPr lang="en-US" dirty="0"/>
              <a:t> using </a:t>
            </a:r>
            <a:r>
              <a:rPr lang="en-US" b="1" dirty="0"/>
              <a:t>NFS</a:t>
            </a:r>
            <a:endParaRPr lang="en-US" dirty="0"/>
          </a:p>
          <a:p>
            <a:pPr lvl="1"/>
            <a:r>
              <a:rPr lang="en-US" dirty="0"/>
              <a:t>Enable NFS role on Windows Server.</a:t>
            </a:r>
          </a:p>
          <a:p>
            <a:pPr lvl="1"/>
            <a:r>
              <a:rPr lang="en-US" dirty="0"/>
              <a:t>Mount from Linux: mount -t </a:t>
            </a:r>
            <a:r>
              <a:rPr lang="en-US" dirty="0" err="1"/>
              <a:t>nfs</a:t>
            </a:r>
            <a:r>
              <a:rPr lang="en-US" dirty="0"/>
              <a:t> </a:t>
            </a:r>
            <a:r>
              <a:rPr lang="en-US" dirty="0" err="1"/>
              <a:t>windows_server</a:t>
            </a:r>
            <a:r>
              <a:rPr lang="en-US" dirty="0"/>
              <a:t>:/share /</a:t>
            </a:r>
            <a:r>
              <a:rPr lang="en-US" dirty="0" err="1"/>
              <a:t>mnt</a:t>
            </a:r>
            <a:r>
              <a:rPr lang="en-US" dirty="0"/>
              <a:t>/share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90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A639-FE64-980C-2662-7546AA1C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436A5-90EA-B493-1692-E69A02791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Authentication &amp; User Management</a:t>
            </a:r>
          </a:p>
          <a:p>
            <a:r>
              <a:rPr lang="en-US" b="1" dirty="0"/>
              <a:t>Join Linux server to Windows AD domain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Install </a:t>
            </a:r>
            <a:r>
              <a:rPr lang="en-US" dirty="0" err="1"/>
              <a:t>realmd</a:t>
            </a:r>
            <a:r>
              <a:rPr lang="en-US" dirty="0"/>
              <a:t>, </a:t>
            </a:r>
            <a:r>
              <a:rPr lang="en-US" dirty="0" err="1"/>
              <a:t>sssd</a:t>
            </a:r>
            <a:r>
              <a:rPr lang="en-US" dirty="0"/>
              <a:t>, krb5.</a:t>
            </a:r>
          </a:p>
          <a:p>
            <a:pPr lvl="1"/>
            <a:r>
              <a:rPr lang="en-US" dirty="0"/>
              <a:t>Command: realm join domain.com -U administrator</a:t>
            </a:r>
          </a:p>
          <a:p>
            <a:r>
              <a:rPr lang="en-US" dirty="0"/>
              <a:t>Users can log in with </a:t>
            </a:r>
            <a:r>
              <a:rPr lang="en-US" b="1" dirty="0"/>
              <a:t>Windows AD credentials</a:t>
            </a:r>
            <a:r>
              <a:rPr lang="en-US" dirty="0"/>
              <a:t>.</a:t>
            </a:r>
          </a:p>
          <a:p>
            <a:r>
              <a:rPr lang="en-US" dirty="0"/>
              <a:t>Centralized authentication &amp; group policies.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12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95D8-54A0-E4F5-026D-0670411C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05822-AD6A-BE63-52F4-84A88F468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Remote Access &amp; Services Integration</a:t>
            </a:r>
          </a:p>
          <a:p>
            <a:r>
              <a:rPr lang="en-US" b="1" dirty="0"/>
              <a:t>Remote Access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Linux → Windows (RDP): </a:t>
            </a:r>
            <a:r>
              <a:rPr lang="en-US" dirty="0" err="1"/>
              <a:t>rdesktop</a:t>
            </a:r>
            <a:r>
              <a:rPr lang="en-US" dirty="0"/>
              <a:t> or </a:t>
            </a:r>
            <a:r>
              <a:rPr lang="en-US" dirty="0" err="1"/>
              <a:t>remmina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Windows → Linux (SSH): Putty or ssh </a:t>
            </a:r>
            <a:r>
              <a:rPr lang="en-US" dirty="0" err="1"/>
              <a:t>user@linux</a:t>
            </a:r>
            <a:r>
              <a:rPr lang="en-US" dirty="0"/>
              <a:t>.</a:t>
            </a:r>
          </a:p>
          <a:p>
            <a:r>
              <a:rPr lang="en-US" b="1" dirty="0"/>
              <a:t>Service Integration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Database access (MySQL ↔ MSSQL).</a:t>
            </a:r>
          </a:p>
          <a:p>
            <a:pPr lvl="1"/>
            <a:r>
              <a:rPr lang="en-US" dirty="0"/>
              <a:t>Web servers (Apache/Nginx ↔ IIS).</a:t>
            </a:r>
          </a:p>
          <a:p>
            <a:pPr lvl="1"/>
            <a:r>
              <a:rPr lang="en-US" dirty="0"/>
              <a:t>Monitoring (Nagios, Zabbix, Windows Event Logs).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03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868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Client-Server Configurations &amp; Methods</vt:lpstr>
      <vt:lpstr>Introduction to Client-Server Model </vt:lpstr>
      <vt:lpstr>Client-Server Configurations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Configuration Methods (Setup Approaches)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2025-09-15T04:48:42Z</dcterms:created>
  <dcterms:modified xsi:type="dcterms:W3CDTF">2025-09-15T05:18:01Z</dcterms:modified>
</cp:coreProperties>
</file>