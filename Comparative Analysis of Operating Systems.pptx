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64" d="100"/>
          <a:sy n="64" d="100"/>
        </p:scale>
        <p:origin x="97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2CD088-C73D-F316-EE59-44E7BBE4D6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DA40987-0138-E507-29B1-C95CEBFA2E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05D62B-306C-9178-04CD-101B80C95D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24D80-A8A8-4932-A6D7-61BE142D2652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8602A2-B0E7-EAEB-03E2-D831E3E150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F0224F-FB75-27E7-DA25-9B302BECB5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F2E9AA-0352-44E9-BBAF-F409C4769A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91126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9CB025-1789-73A6-5EEF-C389927FDD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50DAD5-339E-46D8-A022-ACF1E38942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AEF42A-73ED-3062-4D6B-C12054FB2C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24D80-A8A8-4932-A6D7-61BE142D2652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559605-A4A8-DDC4-B421-A1157417F9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578E61-C752-33C8-F0ED-0A4EE1D75F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F2E9AA-0352-44E9-BBAF-F409C4769A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22564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C95A50-8258-BCA8-C65A-5482B2EB2C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99E419-FA28-68B2-3268-9D8B3800ED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D62A33-8703-60DE-E05A-71EED6B0EF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24D80-A8A8-4932-A6D7-61BE142D2652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017E47-EBDA-C454-A501-74868A2F9C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132F38-F60D-17F7-C4DE-890809B8A8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F2E9AA-0352-44E9-BBAF-F409C4769A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61526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4039B9-6345-BCC2-312D-6E9C712659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3E9DBE-2C7A-EB3E-8008-A3089BE0ABE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17AAE7B-E0E0-A1D4-027A-960EB418D7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8AA3DD-4E82-F710-593E-CA13287C4F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24D80-A8A8-4932-A6D7-61BE142D2652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E6A3CC-8C26-6CEE-265B-1D1F0C6927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7463A8-0954-F987-CA6D-FF0318DD01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F2E9AA-0352-44E9-BBAF-F409C4769A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74985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7B1367-9D56-B75D-2CAD-BAC6DC816B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326F16-41CC-0BB2-408F-E6A7922859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6CAFA60-5509-BB42-CBEA-0A3D70CD65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336B68C-3C9B-E2C4-23BC-594FE851012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BB06962-94C4-DCF4-E8C0-FDE317F309D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AAF2875-E2CF-3EAC-452B-FFD0DE1D49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24D80-A8A8-4932-A6D7-61BE142D2652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80653CC-F96F-56E4-AE56-3F1D8E3340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D79AC34-DFBE-F745-20EB-F66F56651E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F2E9AA-0352-44E9-BBAF-F409C4769A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58595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E80C2D-D0CF-9DA9-8889-30FE896FE1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9B15298-16AB-01E2-A070-F0805913ED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24D80-A8A8-4932-A6D7-61BE142D2652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70B8067-4FC5-BABB-05CF-A49A8688B4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1DBAED0-F94F-AB86-AE20-1F10185E1E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F2E9AA-0352-44E9-BBAF-F409C4769A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58582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9C89843-770D-5B27-7F4A-E92ED4EC1B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24D80-A8A8-4932-A6D7-61BE142D2652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8A6E937-2BAA-3AE0-C92C-00FA4275A4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DE0528-5C00-5145-DEE9-208702F4BE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F2E9AA-0352-44E9-BBAF-F409C4769A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15759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10A94F-3283-86D7-3CDD-5390160857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576AEA-242E-1D29-CEA1-89E7C5189F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6660BA-CD78-01A0-5D23-7BD75BB934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865A61-9152-C21C-E336-1D5BA3B165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24D80-A8A8-4932-A6D7-61BE142D2652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8C711E-0605-35E5-B0E0-61B3210DF8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C382C4-97B7-9509-4AA0-96203C434E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F2E9AA-0352-44E9-BBAF-F409C4769A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46732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C0B6BA-7A73-C599-BAC6-CFE47F5528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B5F6D7C-130E-B7F0-0F6C-95570A52FC7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F866794-206E-9FD0-1EEC-E86297DEA5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F461B7E-BDE5-F456-8BB2-D37B90C268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24D80-A8A8-4932-A6D7-61BE142D2652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98B286-80FD-BFBD-373B-49D624A2D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BB6BC5-391B-D644-B951-BA06331FCC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F2E9AA-0352-44E9-BBAF-F409C4769A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47857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200BFD-074A-6169-E95C-7E4E08FFE8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50F8657-41AE-CFCF-45C3-87C784FF60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5EDDAF-B5BD-ACDF-7D82-0CED8D6D1D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24D80-A8A8-4932-A6D7-61BE142D2652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7FC317-4B27-D8BF-C0BB-DC2D5B619C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ED2075-1B31-6A40-80DC-B63CC41D39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F2E9AA-0352-44E9-BBAF-F409C4769A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61185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741B680-0975-AA73-9992-BA54F972601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920C694-F0F9-BB97-60E3-EAEE293704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BA53C6-5767-5290-391E-A4092C29AF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24D80-A8A8-4932-A6D7-61BE142D2652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7B2D1C-70BD-66DD-DA75-E8DFC675DD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04E8A6-2658-B47F-7E6D-942C2361D8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F2E9AA-0352-44E9-BBAF-F409C4769A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3812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880AC00-93E9-5501-4324-B026893238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ECA6A5-DBB4-C654-3F44-B12FA43093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37E93F-C4C1-47E6-8853-EEF1F37086A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524D80-A8A8-4932-A6D7-61BE142D2652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4C7E54-4EB2-58C9-8C72-8F61AED7571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03E580-DE2D-827D-FF22-ADFA2E7D0F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F2E9AA-0352-44E9-BBAF-F409C4769A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12984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CC69E-DC00-13B6-876C-F36B5F81575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Comparative Analysis of Operating Systems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2B43D22-BAD8-3E4A-1C03-9B2D2C4B86C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By</a:t>
            </a:r>
          </a:p>
          <a:p>
            <a:r>
              <a:rPr lang="en-US" dirty="0"/>
              <a:t>Adnan Majeed </a:t>
            </a:r>
          </a:p>
        </p:txBody>
      </p:sp>
    </p:spTree>
    <p:extLst>
      <p:ext uri="{BB962C8B-B14F-4D97-AF65-F5344CB8AC3E}">
        <p14:creationId xmlns:p14="http://schemas.microsoft.com/office/powerpoint/2010/main" val="38371888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CA55A6-FC15-49F3-B54F-D108ED2A8E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Introduction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BCD9A6-F14D-ACF1-D799-F47F830107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system and network administration, understanding different operating systems is </a:t>
            </a:r>
            <a:r>
              <a:rPr lang="en-US" b="1" dirty="0"/>
              <a:t>crucial</a:t>
            </a:r>
            <a:r>
              <a:rPr lang="en-US" dirty="0"/>
              <a:t> for:</a:t>
            </a:r>
          </a:p>
          <a:p>
            <a:pPr lvl="1"/>
            <a:r>
              <a:rPr lang="en-US" dirty="0"/>
              <a:t>Server management</a:t>
            </a:r>
          </a:p>
          <a:p>
            <a:pPr lvl="1"/>
            <a:r>
              <a:rPr lang="en-US" dirty="0"/>
              <a:t>Security &amp; performance optimization</a:t>
            </a:r>
          </a:p>
          <a:p>
            <a:pPr lvl="1"/>
            <a:r>
              <a:rPr lang="en-US" dirty="0"/>
              <a:t>Cross-platform compatibility</a:t>
            </a:r>
          </a:p>
          <a:p>
            <a:r>
              <a:rPr lang="en-US" dirty="0"/>
              <a:t>Different OS families (Windows, Linux, macOS, Unix, Mobile OS) dominate in </a:t>
            </a:r>
            <a:r>
              <a:rPr lang="en-US" b="1" dirty="0"/>
              <a:t>different environments</a:t>
            </a:r>
            <a:r>
              <a:rPr lang="en-US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62900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8A4CF1-5501-F280-D1A6-CDC1AD3EFA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Evaluation Parameters for Comparison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B902F4-4AC7-30E5-262A-E85F9671F2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/>
              <a:t>When comparing operating systems, we analyze them based on:</a:t>
            </a:r>
          </a:p>
          <a:p>
            <a:r>
              <a:rPr lang="en-US" b="1" dirty="0"/>
              <a:t>Architecture</a:t>
            </a:r>
            <a:r>
              <a:rPr lang="en-US" dirty="0"/>
              <a:t> – monolithic kernel, microkernel, hybrid.</a:t>
            </a:r>
          </a:p>
          <a:p>
            <a:r>
              <a:rPr lang="en-US" b="1" dirty="0"/>
              <a:t>User Interface</a:t>
            </a:r>
            <a:r>
              <a:rPr lang="en-US" dirty="0"/>
              <a:t> – CLI (Command-Line), GUI (Graphical).</a:t>
            </a:r>
          </a:p>
          <a:p>
            <a:r>
              <a:rPr lang="en-US" b="1" dirty="0"/>
              <a:t>Security</a:t>
            </a:r>
            <a:r>
              <a:rPr lang="en-US" dirty="0"/>
              <a:t> – authentication, access control, encryption.</a:t>
            </a:r>
          </a:p>
          <a:p>
            <a:r>
              <a:rPr lang="en-US" b="1" dirty="0"/>
              <a:t>Process &amp; Memory Management</a:t>
            </a:r>
            <a:r>
              <a:rPr lang="en-US" dirty="0"/>
              <a:t> – multitasking, virtual memory, scheduling.</a:t>
            </a:r>
          </a:p>
          <a:p>
            <a:r>
              <a:rPr lang="en-US" b="1" dirty="0"/>
              <a:t>File Systems</a:t>
            </a:r>
            <a:r>
              <a:rPr lang="en-US" dirty="0"/>
              <a:t> – NTFS, ext4, HFS+, APFS.</a:t>
            </a:r>
          </a:p>
          <a:p>
            <a:r>
              <a:rPr lang="en-US" b="1" dirty="0"/>
              <a:t>Networking Features</a:t>
            </a:r>
            <a:r>
              <a:rPr lang="en-US" dirty="0"/>
              <a:t> – protocol support (TCP/IP, SSH, VPNs), server roles.</a:t>
            </a:r>
          </a:p>
          <a:p>
            <a:r>
              <a:rPr lang="en-US" b="1" dirty="0"/>
              <a:t>System Administration Tools</a:t>
            </a:r>
            <a:r>
              <a:rPr lang="en-US" dirty="0"/>
              <a:t> – package managers, PowerShell, shell scripts.</a:t>
            </a:r>
          </a:p>
          <a:p>
            <a:r>
              <a:rPr lang="en-US" b="1" dirty="0"/>
              <a:t>Scalability &amp; Performance</a:t>
            </a:r>
            <a:r>
              <a:rPr lang="en-US" dirty="0"/>
              <a:t> – handling of servers, databases, clusters.</a:t>
            </a:r>
          </a:p>
          <a:p>
            <a:r>
              <a:rPr lang="en-US" b="1" dirty="0"/>
              <a:t>Cost &amp; Licensing</a:t>
            </a:r>
            <a:r>
              <a:rPr lang="en-US" dirty="0"/>
              <a:t> – proprietary vs open-source.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07900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027632-B496-0700-936C-F3EE5AAA46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Comparative Analysis of Major Operating Systems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FC30D6-7F39-1036-C2A7-3094327CF9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3.1. Windows OS (Server &amp; Desktop)</a:t>
            </a:r>
          </a:p>
          <a:p>
            <a:r>
              <a:rPr lang="en-US" b="1" dirty="0"/>
              <a:t>Strengths:</a:t>
            </a:r>
            <a:endParaRPr lang="en-US" dirty="0"/>
          </a:p>
          <a:p>
            <a:pPr lvl="1"/>
            <a:r>
              <a:rPr lang="en-US" dirty="0"/>
              <a:t>Wide hardware &amp; software support</a:t>
            </a:r>
          </a:p>
          <a:p>
            <a:pPr lvl="1"/>
            <a:r>
              <a:rPr lang="en-US" dirty="0"/>
              <a:t>Strong GUI for administration</a:t>
            </a:r>
          </a:p>
          <a:p>
            <a:pPr lvl="1"/>
            <a:r>
              <a:rPr lang="en-US" dirty="0"/>
              <a:t>Active Directory &amp; domain management</a:t>
            </a:r>
          </a:p>
          <a:p>
            <a:r>
              <a:rPr lang="en-US" b="1" dirty="0"/>
              <a:t>Weaknesses:</a:t>
            </a:r>
            <a:endParaRPr lang="en-US" dirty="0"/>
          </a:p>
          <a:p>
            <a:pPr lvl="1"/>
            <a:r>
              <a:rPr lang="en-US" dirty="0"/>
              <a:t>Closed-source (expensive licensing)</a:t>
            </a:r>
          </a:p>
          <a:p>
            <a:pPr lvl="1"/>
            <a:r>
              <a:rPr lang="en-US" dirty="0"/>
              <a:t>More vulnerable to malware</a:t>
            </a:r>
          </a:p>
          <a:p>
            <a:pPr lvl="1"/>
            <a:r>
              <a:rPr lang="en-US" dirty="0"/>
              <a:t>Heavier resource usage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31063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BA94D4-D88E-399A-70D3-BFC2DC7635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Linux (Ubuntu, CentOS, Red Hat, Debian)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2677DE-633A-5DF4-0CAD-68933D57A4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Strengths:</a:t>
            </a:r>
            <a:endParaRPr lang="en-US" dirty="0"/>
          </a:p>
          <a:p>
            <a:pPr lvl="1"/>
            <a:r>
              <a:rPr lang="en-US" dirty="0"/>
              <a:t>Open-source, free (except enterprise support)</a:t>
            </a:r>
          </a:p>
          <a:p>
            <a:pPr lvl="1"/>
            <a:r>
              <a:rPr lang="en-US" dirty="0"/>
              <a:t>Highly secure &amp; customizable</a:t>
            </a:r>
          </a:p>
          <a:p>
            <a:pPr lvl="1"/>
            <a:r>
              <a:rPr lang="en-US" dirty="0"/>
              <a:t>Powerful CLI, package managers (apt, yum)</a:t>
            </a:r>
          </a:p>
          <a:p>
            <a:pPr lvl="1"/>
            <a:r>
              <a:rPr lang="en-US" dirty="0"/>
              <a:t>Preferred for servers, cloud, networking</a:t>
            </a:r>
          </a:p>
          <a:p>
            <a:r>
              <a:rPr lang="en-US" b="1" dirty="0"/>
              <a:t>Weaknesses:</a:t>
            </a:r>
            <a:endParaRPr lang="en-US" dirty="0"/>
          </a:p>
          <a:p>
            <a:pPr lvl="1"/>
            <a:r>
              <a:rPr lang="en-US" dirty="0"/>
              <a:t>Steeper learning curve for beginners</a:t>
            </a:r>
          </a:p>
          <a:p>
            <a:pPr lvl="1"/>
            <a:r>
              <a:rPr lang="en-US" dirty="0"/>
              <a:t>Some software (esp. proprietary apps) lacks native support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31841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E79E4A-B73A-13D3-9770-A2831EF8D2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macOS (Unix-based)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3322A3-BA42-505F-E3DB-FEB06A6B9C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Strengths:</a:t>
            </a:r>
            <a:endParaRPr lang="en-US" dirty="0"/>
          </a:p>
          <a:p>
            <a:pPr lvl="1"/>
            <a:r>
              <a:rPr lang="en-US" dirty="0"/>
              <a:t>Strong integration with Apple ecosystem</a:t>
            </a:r>
          </a:p>
          <a:p>
            <a:pPr lvl="1"/>
            <a:r>
              <a:rPr lang="en-US" dirty="0"/>
              <a:t>Excellent GUI &amp; user experience</a:t>
            </a:r>
          </a:p>
          <a:p>
            <a:pPr lvl="1"/>
            <a:r>
              <a:rPr lang="en-US" dirty="0"/>
              <a:t>Unix kernel (secure, stable)</a:t>
            </a:r>
          </a:p>
          <a:p>
            <a:r>
              <a:rPr lang="en-US" b="1" dirty="0"/>
              <a:t>Weaknesses:</a:t>
            </a:r>
            <a:endParaRPr lang="en-US" dirty="0"/>
          </a:p>
          <a:p>
            <a:pPr lvl="1"/>
            <a:r>
              <a:rPr lang="en-US" dirty="0"/>
              <a:t>Expensive hardware requirement</a:t>
            </a:r>
          </a:p>
          <a:p>
            <a:pPr lvl="1"/>
            <a:r>
              <a:rPr lang="en-US" dirty="0"/>
              <a:t>Limited enterprise networking features compared to Linux/Windows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90192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EA8610-6328-223C-EBC6-AD9832DBDB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UNIX (Solaris, AIX, HP-UX)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F3C33C-7365-8FFF-C114-FEEC21B6BE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Strengths:</a:t>
            </a:r>
            <a:endParaRPr lang="en-US" dirty="0"/>
          </a:p>
          <a:p>
            <a:pPr lvl="1"/>
            <a:r>
              <a:rPr lang="en-US" dirty="0"/>
              <a:t>Very stable &amp; reliable (used in enterprise servers)</a:t>
            </a:r>
          </a:p>
          <a:p>
            <a:pPr lvl="1"/>
            <a:r>
              <a:rPr lang="en-US" dirty="0"/>
              <a:t>Strong security model</a:t>
            </a:r>
          </a:p>
          <a:p>
            <a:pPr lvl="1"/>
            <a:r>
              <a:rPr lang="en-US" dirty="0"/>
              <a:t>Multi-user, multitasking since the beginning</a:t>
            </a:r>
          </a:p>
          <a:p>
            <a:r>
              <a:rPr lang="en-US" b="1" dirty="0"/>
              <a:t>Weaknesses:</a:t>
            </a:r>
            <a:endParaRPr lang="en-US" dirty="0"/>
          </a:p>
          <a:p>
            <a:pPr lvl="1"/>
            <a:r>
              <a:rPr lang="en-US" dirty="0"/>
              <a:t>Proprietary, expensive licensing</a:t>
            </a:r>
          </a:p>
          <a:p>
            <a:pPr lvl="1"/>
            <a:r>
              <a:rPr lang="en-US" dirty="0"/>
              <a:t>Declining popularity compared to Linux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54438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9ABE60-CD59-4611-F9FE-3CBE57BE5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Mobile Operating Systems (Android &amp; iOS)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C5C21B-3C93-7688-BDBB-99B8BF3F80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Android (Linux-based)</a:t>
            </a:r>
            <a:r>
              <a:rPr lang="en-US" dirty="0"/>
              <a:t>: Open, customizable, widely used in IoT &amp; mobile.</a:t>
            </a:r>
          </a:p>
          <a:p>
            <a:r>
              <a:rPr lang="en-US" b="1" dirty="0"/>
              <a:t>iOS (Unix-based)</a:t>
            </a:r>
            <a:r>
              <a:rPr lang="en-US" dirty="0"/>
              <a:t>: Highly secure, optimized, but closed ecosystem.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6747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070110-3EC8-1911-6CE1-504F62AB2D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 Comparison Table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9CD647EE-4FEA-A1DE-FE7F-D6BB6BCA3B8E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98174"/>
          <a:ext cx="10515600" cy="4206240"/>
        </p:xfrm>
        <a:graphic>
          <a:graphicData uri="http://schemas.openxmlformats.org/drawingml/2006/table">
            <a:tbl>
              <a:tblPr/>
              <a:tblGrid>
                <a:gridCol w="1752600">
                  <a:extLst>
                    <a:ext uri="{9D8B030D-6E8A-4147-A177-3AD203B41FA5}">
                      <a16:colId xmlns:a16="http://schemas.microsoft.com/office/drawing/2014/main" val="3690808582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1871160360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17049969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3417694625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3673943427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187348804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Feature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Windows Server/Desktop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Linux Distros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macOS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UNIX (AIX/Solaris)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Mobile OS (Android/iOS)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58975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Licensing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Proprietary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Open-source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Proprietary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Proprietary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Proprietary/Open-source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37773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Security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Medium (patches req.)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High (open-source)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High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Very High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High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32515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Performance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Heavy GUI load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Lightweight/Scalable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Optimized GUI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High stability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Mobile optimized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964311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Admin Tools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PowerShell, GUI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Shell, scripts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GUI + Unix CLI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CLI + vendor tools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Mobile mgmt apps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46049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Networking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Good, AD integration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Excellent (SSH, VPN)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Moderate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Strong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Limited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159692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Cost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High (licenses)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Free (mostly)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High (hardware)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High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Varies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0383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899960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6153F0-87FB-FE9C-BF7F-11D54580F8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Conclusion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AD4195-A390-AEE1-6F0A-F6B258C121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Windows</a:t>
            </a:r>
            <a:r>
              <a:rPr lang="en-US" dirty="0"/>
              <a:t>: Best for enterprises relying on Microsoft ecosystem.</a:t>
            </a:r>
          </a:p>
          <a:p>
            <a:r>
              <a:rPr lang="en-US" b="1" dirty="0"/>
              <a:t>Linux</a:t>
            </a:r>
            <a:r>
              <a:rPr lang="en-US" dirty="0"/>
              <a:t>: Preferred for servers, networking, cloud, DevOps.</a:t>
            </a:r>
          </a:p>
          <a:p>
            <a:r>
              <a:rPr lang="en-US" b="1" dirty="0"/>
              <a:t>macOS</a:t>
            </a:r>
            <a:r>
              <a:rPr lang="en-US" dirty="0"/>
              <a:t>: Excellent for creative professionals, limited in system admin use.</a:t>
            </a:r>
          </a:p>
          <a:p>
            <a:r>
              <a:rPr lang="en-US" b="1" dirty="0"/>
              <a:t>UNIX</a:t>
            </a:r>
            <a:r>
              <a:rPr lang="en-US" dirty="0"/>
              <a:t>: Enterprise-grade reliability, but losing ground to Linux.</a:t>
            </a:r>
          </a:p>
          <a:p>
            <a:r>
              <a:rPr lang="en-US" b="1" dirty="0"/>
              <a:t>Mobile OS</a:t>
            </a:r>
            <a:r>
              <a:rPr lang="en-US" dirty="0"/>
              <a:t>: Dominates IoT and mobile networking, not primary for sys-admins.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63254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DFA147-EEBF-EDC9-566E-9172BDF4C1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Practice Questions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4188F3-11AD-5348-9920-2D8322DCA8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Compare Windows Server and Linux Server for enterprise deployment.</a:t>
            </a:r>
          </a:p>
          <a:p>
            <a:r>
              <a:rPr lang="en-US" dirty="0"/>
              <a:t>Discuss why Linux is widely used in networking and server environments.</a:t>
            </a:r>
          </a:p>
          <a:p>
            <a:r>
              <a:rPr lang="en-US" dirty="0"/>
              <a:t>Prepare a short report on security differences between Windows and Linux.</a:t>
            </a:r>
          </a:p>
          <a:p>
            <a:r>
              <a:rPr lang="en-US" dirty="0"/>
              <a:t>Why is UNIX still used in some enterprises despite Linux popularity?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64813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610</Words>
  <Application>Microsoft Office PowerPoint</Application>
  <PresentationFormat>Widescreen</PresentationFormat>
  <Paragraphs>112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Office Theme</vt:lpstr>
      <vt:lpstr>Comparative Analysis of Operating Systems</vt:lpstr>
      <vt:lpstr>Introduction </vt:lpstr>
      <vt:lpstr>Evaluation Parameters for Comparison </vt:lpstr>
      <vt:lpstr>Comparative Analysis of Major Operating Systems </vt:lpstr>
      <vt:lpstr>Linux (Ubuntu, CentOS, Red Hat, Debian) </vt:lpstr>
      <vt:lpstr>macOS (Unix-based) </vt:lpstr>
      <vt:lpstr>UNIX (Solaris, AIX, HP-UX) </vt:lpstr>
      <vt:lpstr>Mobile Operating Systems (Android &amp; iOS) </vt:lpstr>
      <vt:lpstr>Summary Comparison Table</vt:lpstr>
      <vt:lpstr>Conclusion </vt:lpstr>
      <vt:lpstr>Practice Questions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Hp</dc:creator>
  <cp:lastModifiedBy>Hp</cp:lastModifiedBy>
  <cp:revision>17</cp:revision>
  <dcterms:created xsi:type="dcterms:W3CDTF">2025-09-16T08:15:41Z</dcterms:created>
  <dcterms:modified xsi:type="dcterms:W3CDTF">2025-09-16T08:18:19Z</dcterms:modified>
</cp:coreProperties>
</file>